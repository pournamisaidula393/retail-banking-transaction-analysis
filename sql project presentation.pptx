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5" r:id="rId3"/>
    <p:sldId id="278" r:id="rId4"/>
    <p:sldId id="258" r:id="rId5"/>
    <p:sldId id="267" r:id="rId6"/>
    <p:sldId id="268" r:id="rId7"/>
    <p:sldId id="269" r:id="rId8"/>
    <p:sldId id="270" r:id="rId9"/>
    <p:sldId id="271" r:id="rId10"/>
    <p:sldId id="276" r:id="rId11"/>
    <p:sldId id="277" r:id="rId12"/>
    <p:sldId id="272" r:id="rId13"/>
    <p:sldId id="273" r:id="rId14"/>
    <p:sldId id="274" r:id="rId15"/>
    <p:sldId id="259" r:id="rId16"/>
  </p:sldIdLst>
  <p:sldSz cx="12192000" cy="6858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44D47CE-D9E6-7F7F-333C-3BEAA0C5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70E0E92-BA0A-C8EC-CCB0-5F86C216D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6645AEE-E19B-D303-5156-FE8B0DFBB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071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923A28E-08AE-5BFF-5F1D-55C70940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849C294-9FA1-AD8F-5089-E42C7B1EE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789D1A4-D779-F769-F956-9AF65AF65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879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87A2594-169F-85FA-EB85-08F429ACC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55A9AD6-8CBF-6E1C-C632-970771AAA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808A542-2277-167A-D570-0D55BF651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39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18AD9C2-E1EB-BAE0-4B7E-6A089028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3C0E9A4-8979-F87C-D2E9-845E9C272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F7470F5-5E9E-B265-3274-0815E0624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921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1EE7D59-A0AC-8ABD-1D8C-35163E59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AC93F88-F505-75B5-6D62-1752F7A14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15C38A2-863F-C127-9F9D-1D921AF4F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96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7064F5-327E-2FB5-55E7-155BFD383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984086D-F081-8D52-D29B-56282052B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3CBC281-CE58-1E9F-8ADC-CA4F69E75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20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606327-023B-5699-D9C8-971A4A59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1EB0576-FDB9-7A38-95D7-D5DCE9535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9C7EFE5-B6A0-CAA1-67A3-EEB521D03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613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57040FB-670B-AD2F-E8CC-ADA21159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9E96BA0-4EBD-0AE9-54C1-D4D9C04AE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69321F2-7925-5CFE-EBCC-A6330C5DA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227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BE354A-E97B-DE76-CBF4-62331181D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845354B-C120-80BE-0E5A-61DAEF405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C8E3359-7E22-32B8-2CAA-881BD49AC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39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566EF66-87C2-E0B7-0272-22E6CDD0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DA6F737-C59A-D70E-6DFB-3C0CCB95F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BE45860-27CB-78D7-9F1B-8E8745BA8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189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942680" y="3717986"/>
            <a:ext cx="10416619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3200" b="1" i="0" u="none" strike="noStrike" cap="none" dirty="0">
                <a:solidFill>
                  <a:srgbClr val="000000"/>
                </a:solidFill>
                <a:latin typeface="Bookman Old Style" panose="02050604050505020204" pitchFamily="18" charset="0"/>
                <a:sym typeface="Arial"/>
              </a:rPr>
              <a:t>Retail Banking Transaction Analysis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3600" b="0" i="0" u="none" strike="noStrike" cap="none" dirty="0">
              <a:solidFill>
                <a:srgbClr val="000000"/>
              </a:solidFill>
              <a:latin typeface="Bookman Old Style" panose="020506040505050202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078C4-D09E-5F01-8A2F-F06D6CBF03F3}"/>
              </a:ext>
            </a:extLst>
          </p:cNvPr>
          <p:cNvSpPr txBox="1"/>
          <p:nvPr/>
        </p:nvSpPr>
        <p:spPr>
          <a:xfrm>
            <a:off x="-390620" y="4680010"/>
            <a:ext cx="12973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400" b="1" dirty="0">
                <a:latin typeface="Bookman Old Style" panose="02050604050505020204" pitchFamily="18" charset="0"/>
              </a:rPr>
              <a:t>Presented by </a:t>
            </a:r>
            <a:r>
              <a:rPr lang="en-GB" sz="2400" dirty="0">
                <a:latin typeface="Bookman Old Style" panose="02050604050505020204" pitchFamily="18" charset="0"/>
              </a:rPr>
              <a:t>: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2400" dirty="0">
              <a:latin typeface="Bookman Old Style" panose="020506040505050202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400" dirty="0">
                <a:latin typeface="Bookman Old Style" panose="02050604050505020204" pitchFamily="18" charset="0"/>
              </a:rPr>
              <a:t>Pournami Saidula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7340E9-7401-1A8F-D7DB-0F76C89151AC}"/>
              </a:ext>
            </a:extLst>
          </p:cNvPr>
          <p:cNvSpPr txBox="1"/>
          <p:nvPr/>
        </p:nvSpPr>
        <p:spPr>
          <a:xfrm>
            <a:off x="568960" y="666464"/>
            <a:ext cx="1105114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800" b="1" i="1" dirty="0">
                <a:solidFill>
                  <a:srgbClr val="FF0000"/>
                </a:solidFill>
              </a:rPr>
              <a:t>                                        </a:t>
            </a:r>
            <a:r>
              <a:rPr lang="en-IN" sz="2800" b="1" dirty="0">
                <a:solidFill>
                  <a:srgbClr val="FF0000"/>
                </a:solidFill>
              </a:rPr>
              <a:t>About Me</a:t>
            </a:r>
          </a:p>
          <a:p>
            <a:endParaRPr lang="en-IN" sz="2800" b="1" dirty="0"/>
          </a:p>
          <a:p>
            <a:r>
              <a:rPr lang="en-IN" dirty="0"/>
              <a:t>I’m Pournami Saidula, an aspiring Data Analyst with an interest in Data Analytics and Data Science. I have skills in Python, SQL, Microsoft Excel, Power BI, and Data Analysis.</a:t>
            </a:r>
          </a:p>
          <a:p>
            <a:endParaRPr lang="en-IN" dirty="0"/>
          </a:p>
          <a:p>
            <a:r>
              <a:rPr lang="en-IN" dirty="0"/>
              <a:t>I built a </a:t>
            </a:r>
            <a:r>
              <a:rPr lang="en-IN" b="1" dirty="0"/>
              <a:t>Retail Banking Transaction Analysis</a:t>
            </a:r>
            <a:r>
              <a:rPr lang="en-IN" dirty="0"/>
              <a:t> project using MySQL to analysis customer, account, transaction, loan, and card data and generate meaningful business insights.</a:t>
            </a:r>
          </a:p>
          <a:p>
            <a:endParaRPr lang="en-IN" dirty="0"/>
          </a:p>
          <a:p>
            <a:endParaRPr lang="en-IN" dirty="0"/>
          </a:p>
          <a:p>
            <a:r>
              <a:rPr lang="en-US" b="1" dirty="0"/>
              <a:t>Work Experience : </a:t>
            </a:r>
            <a:r>
              <a:rPr lang="en-US" dirty="0"/>
              <a:t>Fresher</a:t>
            </a:r>
            <a:r>
              <a:rPr lang="en-IN" dirty="0"/>
              <a:t>​</a:t>
            </a:r>
          </a:p>
          <a:p>
            <a:endParaRPr lang="en-IN" dirty="0"/>
          </a:p>
          <a:p>
            <a:r>
              <a:rPr lang="en-IN" b="1" dirty="0"/>
              <a:t>LinkedIn: </a:t>
            </a:r>
            <a:r>
              <a:rPr lang="en-IN" dirty="0"/>
              <a:t>www.linkedin.com/in/pournamisaidula</a:t>
            </a:r>
            <a:endParaRPr lang="en-GB" sz="1100" dirty="0"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dk1"/>
              </a:buClr>
              <a:buSzPts val="2400"/>
              <a:buFont typeface="Calibri"/>
              <a:buChar char="•"/>
            </a:pPr>
            <a:endParaRPr lang="en-GB" sz="1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62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6629-F241-27A0-20D9-696BF7E0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Agenda​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37811-FBB9-34C0-093C-361671537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45289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Business Scenario</a:t>
            </a:r>
          </a:p>
          <a:p>
            <a:r>
              <a:rPr lang="en-US" dirty="0"/>
              <a:t>Business Objectives</a:t>
            </a:r>
          </a:p>
          <a:p>
            <a:r>
              <a:rPr lang="en-IN" dirty="0"/>
              <a:t>Dataset &amp; Database Overview</a:t>
            </a:r>
          </a:p>
          <a:p>
            <a:r>
              <a:rPr lang="en-IN" dirty="0"/>
              <a:t>ER Diagram &amp; Database Structure</a:t>
            </a:r>
          </a:p>
          <a:p>
            <a:r>
              <a:rPr lang="en-IN" dirty="0"/>
              <a:t>Analysis of the Objectives </a:t>
            </a:r>
          </a:p>
          <a:p>
            <a:r>
              <a:rPr lang="en-IN" dirty="0"/>
              <a:t>Overall Key Findings</a:t>
            </a:r>
          </a:p>
          <a:p>
            <a:r>
              <a:rPr lang="en-IN" dirty="0"/>
              <a:t>Business Recommendations</a:t>
            </a:r>
          </a:p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3185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813076" y="471341"/>
            <a:ext cx="11234380" cy="82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Project overview: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3E7E0-9417-E926-362F-E13F599F5A42}"/>
              </a:ext>
            </a:extLst>
          </p:cNvPr>
          <p:cNvSpPr txBox="1"/>
          <p:nvPr/>
        </p:nvSpPr>
        <p:spPr>
          <a:xfrm>
            <a:off x="813076" y="1536174"/>
            <a:ext cx="11234380" cy="3574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Designing and understanding the retail banking database.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Writing SQL queries to analyze customer behavior and banking operations.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Identifying trends in transactions, loans, cards, and branch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Providing insights and recommendations to improve business performance</a:t>
            </a:r>
            <a:r>
              <a:rPr lang="en-IN" sz="16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7FC2E-2FAC-8A72-46D0-172B048E7683}"/>
              </a:ext>
            </a:extLst>
          </p:cNvPr>
          <p:cNvSpPr txBox="1"/>
          <p:nvPr/>
        </p:nvSpPr>
        <p:spPr>
          <a:xfrm>
            <a:off x="3047215" y="2523415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0E8F969-497F-AA1E-8293-0C19E4F3C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F71437A-515E-AA23-E193-F0CCF333C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3826" y="471341"/>
            <a:ext cx="11123629" cy="82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Business scenario: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34681F4-680E-C1E8-7C81-CE7E939E4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96617-44F5-2DED-E631-B2E3EF728940}"/>
              </a:ext>
            </a:extLst>
          </p:cNvPr>
          <p:cNvSpPr txBox="1"/>
          <p:nvPr/>
        </p:nvSpPr>
        <p:spPr>
          <a:xfrm>
            <a:off x="813076" y="1536174"/>
            <a:ext cx="11234380" cy="307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A retail bank has many customers, accounts, branches, loans, cards, and transactions.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The management wants to understand how customers use banking products and how the bank is performing.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As a Data Analyst, we analyse the available data and provide useful information to help the bank make better decisions.</a:t>
            </a:r>
          </a:p>
        </p:txBody>
      </p:sp>
    </p:spTree>
    <p:extLst>
      <p:ext uri="{BB962C8B-B14F-4D97-AF65-F5344CB8AC3E}">
        <p14:creationId xmlns:p14="http://schemas.microsoft.com/office/powerpoint/2010/main" val="252255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31F6A14-1B42-9559-2349-827ED149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6AF26BA-51DD-53FF-B428-D90CC29C3C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3076" y="471341"/>
            <a:ext cx="11234380" cy="82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Business objectives: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406BA58-F8F4-854D-90CB-264B11234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E1AD2-A660-89D7-D290-BE0E0336EB02}"/>
              </a:ext>
            </a:extLst>
          </p:cNvPr>
          <p:cNvSpPr txBox="1"/>
          <p:nvPr/>
        </p:nvSpPr>
        <p:spPr>
          <a:xfrm>
            <a:off x="813076" y="1536174"/>
            <a:ext cx="112343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r>
              <a:rPr lang="en-GB" sz="2000" dirty="0"/>
              <a:t>The main objectives of this project are to understand: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/>
              <a:t>Customer profiles and segments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Account usage and branch activity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Transaction patterns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Loan performance and repayment behaviour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Card usage and customer product engagement</a:t>
            </a:r>
            <a:r>
              <a:rPr lang="en-IN" sz="2000" dirty="0"/>
              <a:t>.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5C2EC-7260-3C85-2892-87417C582150}"/>
              </a:ext>
            </a:extLst>
          </p:cNvPr>
          <p:cNvSpPr txBox="1"/>
          <p:nvPr/>
        </p:nvSpPr>
        <p:spPr>
          <a:xfrm>
            <a:off x="3047215" y="2523415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1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C6EE078-810C-0563-AB72-D7C9CAD0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6A807B9-F574-B482-4FF6-CB63150A8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3076" y="471341"/>
            <a:ext cx="11234380" cy="82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Data Set&amp; Database Overview: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760D7CE-732F-D79F-5EDD-D8AD3B9DB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4E5AC-29EE-28FB-C50E-DB55DC84BAEE}"/>
              </a:ext>
            </a:extLst>
          </p:cNvPr>
          <p:cNvSpPr txBox="1"/>
          <p:nvPr/>
        </p:nvSpPr>
        <p:spPr>
          <a:xfrm>
            <a:off x="942680" y="1291473"/>
            <a:ext cx="109877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pPr>
              <a:lnSpc>
                <a:spcPct val="150000"/>
              </a:lnSpc>
            </a:pPr>
            <a:r>
              <a:rPr lang="en-GB" sz="2000" dirty="0"/>
              <a:t>The project contains 7 tables with banking information.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45401-FA46-1168-56D8-BCCD9FFED72E}"/>
              </a:ext>
            </a:extLst>
          </p:cNvPr>
          <p:cNvSpPr txBox="1"/>
          <p:nvPr/>
        </p:nvSpPr>
        <p:spPr>
          <a:xfrm>
            <a:off x="3266016" y="3799851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83288E-4005-E3C8-4D26-61B0F539A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92812"/>
              </p:ext>
            </p:extLst>
          </p:nvPr>
        </p:nvGraphicFramePr>
        <p:xfrm>
          <a:off x="1027522" y="2253006"/>
          <a:ext cx="9407950" cy="36670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703975">
                  <a:extLst>
                    <a:ext uri="{9D8B030D-6E8A-4147-A177-3AD203B41FA5}">
                      <a16:colId xmlns:a16="http://schemas.microsoft.com/office/drawing/2014/main" val="3684441279"/>
                    </a:ext>
                  </a:extLst>
                </a:gridCol>
                <a:gridCol w="4703975">
                  <a:extLst>
                    <a:ext uri="{9D8B030D-6E8A-4147-A177-3AD203B41FA5}">
                      <a16:colId xmlns:a16="http://schemas.microsoft.com/office/drawing/2014/main" val="2552172990"/>
                    </a:ext>
                  </a:extLst>
                </a:gridCol>
              </a:tblGrid>
              <a:tr h="424514">
                <a:tc>
                  <a:txBody>
                    <a:bodyPr/>
                    <a:lstStyle/>
                    <a:p>
                      <a:r>
                        <a:rPr lang="en-GB" dirty="0"/>
                        <a:t>Table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Records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5930"/>
                  </a:ext>
                </a:extLst>
              </a:tr>
              <a:tr h="463216">
                <a:tc>
                  <a:txBody>
                    <a:bodyPr/>
                    <a:lstStyle/>
                    <a:p>
                      <a:r>
                        <a:rPr lang="en-GB" dirty="0"/>
                        <a:t>Customers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697054"/>
                  </a:ext>
                </a:extLst>
              </a:tr>
              <a:tr h="463216">
                <a:tc>
                  <a:txBody>
                    <a:bodyPr/>
                    <a:lstStyle/>
                    <a:p>
                      <a:r>
                        <a:rPr lang="en-GB" dirty="0"/>
                        <a:t>Accounts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638764"/>
                  </a:ext>
                </a:extLst>
              </a:tr>
              <a:tr h="463216">
                <a:tc>
                  <a:txBody>
                    <a:bodyPr/>
                    <a:lstStyle/>
                    <a:p>
                      <a:r>
                        <a:rPr lang="en-GB" sz="1400" dirty="0"/>
                        <a:t>Branches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576196"/>
                  </a:ext>
                </a:extLst>
              </a:tr>
              <a:tr h="463216">
                <a:tc>
                  <a:txBody>
                    <a:bodyPr/>
                    <a:lstStyle/>
                    <a:p>
                      <a:r>
                        <a:rPr lang="en-GB" sz="1400" dirty="0"/>
                        <a:t>Loans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138476"/>
                  </a:ext>
                </a:extLst>
              </a:tr>
              <a:tr h="463216">
                <a:tc>
                  <a:txBody>
                    <a:bodyPr/>
                    <a:lstStyle/>
                    <a:p>
                      <a:r>
                        <a:rPr lang="en-GB" sz="1400" dirty="0"/>
                        <a:t>Loan Payments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831927"/>
                  </a:ext>
                </a:extLst>
              </a:tr>
              <a:tr h="463216">
                <a:tc>
                  <a:txBody>
                    <a:bodyPr/>
                    <a:lstStyle/>
                    <a:p>
                      <a:r>
                        <a:rPr lang="en-GB" sz="1400" dirty="0"/>
                        <a:t>Cards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8220"/>
                  </a:ext>
                </a:extLst>
              </a:tr>
              <a:tr h="463216">
                <a:tc>
                  <a:txBody>
                    <a:bodyPr/>
                    <a:lstStyle/>
                    <a:p>
                      <a:r>
                        <a:rPr lang="en-GB" sz="1400" dirty="0"/>
                        <a:t>Transactions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78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84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545BD9D-5FA6-5DB9-2C8A-DA2D1941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5675218-ABE4-98EE-F170-813390293F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3076" y="471341"/>
            <a:ext cx="11234380" cy="82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ER Diagram &amp; Database Structure: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BEE0E4D-5496-13A9-E71F-8E2BC29FB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CCB7B3-5349-E5B4-DC73-582DD2170E92}"/>
              </a:ext>
            </a:extLst>
          </p:cNvPr>
          <p:cNvSpPr txBox="1"/>
          <p:nvPr/>
        </p:nvSpPr>
        <p:spPr>
          <a:xfrm>
            <a:off x="3075496" y="2523415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  <p:pic>
        <p:nvPicPr>
          <p:cNvPr id="2" name="image1.png">
            <a:extLst>
              <a:ext uri="{FF2B5EF4-FFF2-40B4-BE49-F238E27FC236}">
                <a16:creationId xmlns:a16="http://schemas.microsoft.com/office/drawing/2014/main" id="{D1F834B5-556B-D909-5C29-A72039F9C84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6800" y="1381760"/>
            <a:ext cx="10088880" cy="49174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50343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9FF8550-8B4C-E92B-E1F4-00691034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B4EEB0B-3B1F-A558-9436-030C89114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767" y="679729"/>
            <a:ext cx="11465365" cy="106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Analysis of Business Objectives: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AE73480F-6225-9D71-20F1-BC99D363A6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059F9-5DD7-8303-8259-84CE16CE957A}"/>
              </a:ext>
            </a:extLst>
          </p:cNvPr>
          <p:cNvSpPr txBox="1"/>
          <p:nvPr/>
        </p:nvSpPr>
        <p:spPr>
          <a:xfrm>
            <a:off x="303708" y="1822045"/>
            <a:ext cx="88776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Bookman Old Style" panose="02050604050505020204" pitchFamily="18" charset="0"/>
              </a:rPr>
              <a:t>Customer profiles and segments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1F196B-812A-8DFC-9E5F-223D4D93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743056"/>
              </p:ext>
            </p:extLst>
          </p:nvPr>
        </p:nvGraphicFramePr>
        <p:xfrm>
          <a:off x="8408709" y="1338606"/>
          <a:ext cx="3220628" cy="2469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314">
                  <a:extLst>
                    <a:ext uri="{9D8B030D-6E8A-4147-A177-3AD203B41FA5}">
                      <a16:colId xmlns:a16="http://schemas.microsoft.com/office/drawing/2014/main" val="1672223187"/>
                    </a:ext>
                  </a:extLst>
                </a:gridCol>
                <a:gridCol w="1610314">
                  <a:extLst>
                    <a:ext uri="{9D8B030D-6E8A-4147-A177-3AD203B41FA5}">
                      <a16:colId xmlns:a16="http://schemas.microsoft.com/office/drawing/2014/main" val="108934736"/>
                    </a:ext>
                  </a:extLst>
                </a:gridCol>
              </a:tblGrid>
              <a:tr h="490160">
                <a:tc>
                  <a:txBody>
                    <a:bodyPr/>
                    <a:lstStyle/>
                    <a:p>
                      <a:r>
                        <a:rPr lang="en-GB" dirty="0"/>
                        <a:t>segment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Total_customers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76336"/>
                  </a:ext>
                </a:extLst>
              </a:tr>
              <a:tr h="32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778436"/>
                  </a:ext>
                </a:extLst>
              </a:tr>
              <a:tr h="32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Premium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633214"/>
                  </a:ext>
                </a:extLst>
              </a:tr>
              <a:tr h="32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588170"/>
                  </a:ext>
                </a:extLst>
              </a:tr>
              <a:tr h="32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054570"/>
                  </a:ext>
                </a:extLst>
              </a:tr>
              <a:tr h="32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840881"/>
                  </a:ext>
                </a:extLst>
              </a:tr>
              <a:tr h="32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77814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DFA8A9-98CC-2C6B-5B93-6727B66AA4CB}"/>
              </a:ext>
            </a:extLst>
          </p:cNvPr>
          <p:cNvSpPr txBox="1"/>
          <p:nvPr/>
        </p:nvSpPr>
        <p:spPr>
          <a:xfrm>
            <a:off x="303708" y="3603273"/>
            <a:ext cx="623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Bookman Old Style" panose="02050604050505020204" pitchFamily="18" charset="0"/>
              </a:rPr>
              <a:t>Account usage and branch activity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9EF2A3E-39E5-1DE9-57F4-8D0249F82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300415"/>
              </p:ext>
            </p:extLst>
          </p:nvPr>
        </p:nvGraphicFramePr>
        <p:xfrm>
          <a:off x="5269584" y="4026809"/>
          <a:ext cx="3402449" cy="260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173">
                  <a:extLst>
                    <a:ext uri="{9D8B030D-6E8A-4147-A177-3AD203B41FA5}">
                      <a16:colId xmlns:a16="http://schemas.microsoft.com/office/drawing/2014/main" val="3333109079"/>
                    </a:ext>
                  </a:extLst>
                </a:gridCol>
                <a:gridCol w="1515276">
                  <a:extLst>
                    <a:ext uri="{9D8B030D-6E8A-4147-A177-3AD203B41FA5}">
                      <a16:colId xmlns:a16="http://schemas.microsoft.com/office/drawing/2014/main" val="661153593"/>
                    </a:ext>
                  </a:extLst>
                </a:gridCol>
              </a:tblGrid>
              <a:tr h="461298">
                <a:tc>
                  <a:txBody>
                    <a:bodyPr/>
                    <a:lstStyle/>
                    <a:p>
                      <a:r>
                        <a:rPr lang="en-GB" dirty="0" err="1"/>
                        <a:t>Account_type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Total_accounts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436365"/>
                  </a:ext>
                </a:extLst>
              </a:tr>
              <a:tr h="29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300418"/>
                  </a:ext>
                </a:extLst>
              </a:tr>
              <a:tr h="461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Certificate of Deposit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748217"/>
                  </a:ext>
                </a:extLst>
              </a:tr>
              <a:tr h="29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Savings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520843"/>
                  </a:ext>
                </a:extLst>
              </a:tr>
              <a:tr h="461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819696"/>
                  </a:ext>
                </a:extLst>
              </a:tr>
              <a:tr h="29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Money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535048"/>
                  </a:ext>
                </a:extLst>
              </a:tr>
              <a:tr h="29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4956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D4703A9-7270-9B95-A375-B1085E256DFC}"/>
              </a:ext>
            </a:extLst>
          </p:cNvPr>
          <p:cNvSpPr txBox="1"/>
          <p:nvPr/>
        </p:nvSpPr>
        <p:spPr>
          <a:xfrm>
            <a:off x="5909993" y="3695182"/>
            <a:ext cx="1991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OUTPUT: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C83784-DC03-8C34-9701-C94B0F37A4FE}"/>
              </a:ext>
            </a:extLst>
          </p:cNvPr>
          <p:cNvSpPr txBox="1"/>
          <p:nvPr/>
        </p:nvSpPr>
        <p:spPr>
          <a:xfrm>
            <a:off x="8672033" y="902011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OUTPUT: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9B9BB4-A689-72BA-DA00-E8B48DE64739}"/>
              </a:ext>
            </a:extLst>
          </p:cNvPr>
          <p:cNvSpPr/>
          <p:nvPr/>
        </p:nvSpPr>
        <p:spPr>
          <a:xfrm>
            <a:off x="702981" y="2261890"/>
            <a:ext cx="4507040" cy="110166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4FA9C-5FEF-A5F2-8696-EC50A384E4DF}"/>
              </a:ext>
            </a:extLst>
          </p:cNvPr>
          <p:cNvSpPr txBox="1"/>
          <p:nvPr/>
        </p:nvSpPr>
        <p:spPr>
          <a:xfrm>
            <a:off x="794880" y="2350603"/>
            <a:ext cx="4474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Bookman Old Style" panose="02050604050505020204" pitchFamily="18" charset="0"/>
              </a:rPr>
              <a:t>select segment,count(*) as total_customers from customers</a:t>
            </a:r>
          </a:p>
          <a:p>
            <a:r>
              <a:rPr lang="en-IN" sz="1800" dirty="0">
                <a:latin typeface="Bookman Old Style" panose="02050604050505020204" pitchFamily="18" charset="0"/>
              </a:rPr>
              <a:t>group by segment;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0DA48-2C52-55C7-718B-C8CC71F81E75}"/>
              </a:ext>
            </a:extLst>
          </p:cNvPr>
          <p:cNvSpPr/>
          <p:nvPr/>
        </p:nvSpPr>
        <p:spPr>
          <a:xfrm>
            <a:off x="608713" y="4477731"/>
            <a:ext cx="4507040" cy="122548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account_</a:t>
            </a:r>
            <a:r>
              <a:rPr lang="en-IN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type,count(*) as </a:t>
            </a:r>
            <a:r>
              <a:rPr lang="en-IN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total_accounts</a:t>
            </a:r>
            <a:r>
              <a:rPr lang="en-IN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 from accounts</a:t>
            </a:r>
          </a:p>
          <a:p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group by </a:t>
            </a:r>
            <a:r>
              <a:rPr lang="en-IN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account_type</a:t>
            </a:r>
            <a:endParaRPr lang="en-IN" sz="16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order by total_accounts </a:t>
            </a:r>
            <a:r>
              <a:rPr lang="en-IN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desc</a:t>
            </a: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9445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9BE3845-3E53-170F-FBA7-270444DC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12283CF-4A47-2D9E-286E-666DE3FC1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462" y="284973"/>
            <a:ext cx="11361670" cy="72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Analysis of Business Objectives: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F0F62E4-1304-B851-9A31-02CA16C53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>
                <a:latin typeface="Arial"/>
                <a:ea typeface="Arial"/>
                <a:cs typeface="Arial"/>
                <a:sym typeface="Arial"/>
              </a:rPr>
            </a:br>
            <a:endParaRPr sz="2253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12E53-3319-251B-D639-3A4C9E79426C}"/>
              </a:ext>
            </a:extLst>
          </p:cNvPr>
          <p:cNvSpPr txBox="1"/>
          <p:nvPr/>
        </p:nvSpPr>
        <p:spPr>
          <a:xfrm>
            <a:off x="3047215" y="2523415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CA4DE-F7F7-87C9-D27E-8512D8AD3851}"/>
              </a:ext>
            </a:extLst>
          </p:cNvPr>
          <p:cNvSpPr txBox="1"/>
          <p:nvPr/>
        </p:nvSpPr>
        <p:spPr>
          <a:xfrm>
            <a:off x="396254" y="1417279"/>
            <a:ext cx="8660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Bookman Old Style" panose="02050604050505020204" pitchFamily="18" charset="0"/>
              </a:rPr>
              <a:t>Transaction patterns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B4BAC2-53D8-2C67-84E4-26F1964F5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42613"/>
              </p:ext>
            </p:extLst>
          </p:nvPr>
        </p:nvGraphicFramePr>
        <p:xfrm>
          <a:off x="7447175" y="1432874"/>
          <a:ext cx="4182164" cy="2279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082">
                  <a:extLst>
                    <a:ext uri="{9D8B030D-6E8A-4147-A177-3AD203B41FA5}">
                      <a16:colId xmlns:a16="http://schemas.microsoft.com/office/drawing/2014/main" val="1672223187"/>
                    </a:ext>
                  </a:extLst>
                </a:gridCol>
                <a:gridCol w="2091082">
                  <a:extLst>
                    <a:ext uri="{9D8B030D-6E8A-4147-A177-3AD203B41FA5}">
                      <a16:colId xmlns:a16="http://schemas.microsoft.com/office/drawing/2014/main" val="108934736"/>
                    </a:ext>
                  </a:extLst>
                </a:gridCol>
              </a:tblGrid>
              <a:tr h="450872">
                <a:tc>
                  <a:txBody>
                    <a:bodyPr/>
                    <a:lstStyle/>
                    <a:p>
                      <a:r>
                        <a:rPr lang="en-GB" dirty="0"/>
                        <a:t>Transaction_type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Total_transaction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76336"/>
                  </a:ext>
                </a:extLst>
              </a:tr>
              <a:tr h="303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778436"/>
                  </a:ext>
                </a:extLst>
              </a:tr>
              <a:tr h="303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ATM Withdrawal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633214"/>
                  </a:ext>
                </a:extLst>
              </a:tr>
              <a:tr h="303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588170"/>
                  </a:ext>
                </a:extLst>
              </a:tr>
              <a:tr h="303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054570"/>
                  </a:ext>
                </a:extLst>
              </a:tr>
              <a:tr h="303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840881"/>
                  </a:ext>
                </a:extLst>
              </a:tr>
              <a:tr h="303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77814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76BCEE-FE0E-B536-D459-167DC88B8D9A}"/>
              </a:ext>
            </a:extLst>
          </p:cNvPr>
          <p:cNvSpPr txBox="1"/>
          <p:nvPr/>
        </p:nvSpPr>
        <p:spPr>
          <a:xfrm>
            <a:off x="216816" y="3401656"/>
            <a:ext cx="6162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Bookman Old Style" panose="02050604050505020204" pitchFamily="18" charset="0"/>
              </a:rPr>
              <a:t>Loan performance and repayment behaviour</a:t>
            </a:r>
          </a:p>
          <a:p>
            <a:endParaRPr lang="en-IN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5ED762-F852-F23F-EFC2-9885C46D5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444766"/>
              </p:ext>
            </p:extLst>
          </p:nvPr>
        </p:nvGraphicFramePr>
        <p:xfrm>
          <a:off x="5693487" y="4053342"/>
          <a:ext cx="3111147" cy="2516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245">
                  <a:extLst>
                    <a:ext uri="{9D8B030D-6E8A-4147-A177-3AD203B41FA5}">
                      <a16:colId xmlns:a16="http://schemas.microsoft.com/office/drawing/2014/main" val="3333109079"/>
                    </a:ext>
                  </a:extLst>
                </a:gridCol>
                <a:gridCol w="1398902">
                  <a:extLst>
                    <a:ext uri="{9D8B030D-6E8A-4147-A177-3AD203B41FA5}">
                      <a16:colId xmlns:a16="http://schemas.microsoft.com/office/drawing/2014/main" val="661153593"/>
                    </a:ext>
                  </a:extLst>
                </a:gridCol>
              </a:tblGrid>
              <a:tr h="403816">
                <a:tc>
                  <a:txBody>
                    <a:bodyPr/>
                    <a:lstStyle/>
                    <a:p>
                      <a:r>
                        <a:rPr lang="en-GB" dirty="0" err="1"/>
                        <a:t>Loan_type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Total_loans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436365"/>
                  </a:ext>
                </a:extLst>
              </a:tr>
              <a:tr h="298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300418"/>
                  </a:ext>
                </a:extLst>
              </a:tr>
              <a:tr h="403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748217"/>
                  </a:ext>
                </a:extLst>
              </a:tr>
              <a:tr h="298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Credit Builder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520843"/>
                  </a:ext>
                </a:extLst>
              </a:tr>
              <a:tr h="403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819696"/>
                  </a:ext>
                </a:extLst>
              </a:tr>
              <a:tr h="390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535048"/>
                  </a:ext>
                </a:extLst>
              </a:tr>
              <a:tr h="298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4956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9C32E3-A387-2804-C162-DAD8709A8BB1}"/>
              </a:ext>
            </a:extLst>
          </p:cNvPr>
          <p:cNvSpPr txBox="1"/>
          <p:nvPr/>
        </p:nvSpPr>
        <p:spPr>
          <a:xfrm>
            <a:off x="5693487" y="3653144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OUTPUT: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C9017-690C-27D8-DDF7-A7F47676A0CD}"/>
              </a:ext>
            </a:extLst>
          </p:cNvPr>
          <p:cNvSpPr txBox="1"/>
          <p:nvPr/>
        </p:nvSpPr>
        <p:spPr>
          <a:xfrm>
            <a:off x="7676110" y="981125"/>
            <a:ext cx="2762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OUTPUT: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0F2B3A-F1A7-6881-8DDF-9C3F1AF5C1AA}"/>
              </a:ext>
            </a:extLst>
          </p:cNvPr>
          <p:cNvSpPr/>
          <p:nvPr/>
        </p:nvSpPr>
        <p:spPr>
          <a:xfrm>
            <a:off x="584462" y="4555037"/>
            <a:ext cx="4694640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</a:t>
            </a:r>
            <a:r>
              <a:rPr lang="en-IN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loan_type,count</a:t>
            </a: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(*) as </a:t>
            </a:r>
            <a:r>
              <a:rPr lang="en-IN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total_loans</a:t>
            </a: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  from loans</a:t>
            </a:r>
          </a:p>
          <a:p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group by loan_type</a:t>
            </a:r>
          </a:p>
          <a:p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order by </a:t>
            </a:r>
            <a:r>
              <a:rPr lang="en-IN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total_loans</a:t>
            </a: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IN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desc</a:t>
            </a: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B8CA0-FC04-B68E-BF58-2F7764433058}"/>
              </a:ext>
            </a:extLst>
          </p:cNvPr>
          <p:cNvSpPr/>
          <p:nvPr/>
        </p:nvSpPr>
        <p:spPr>
          <a:xfrm>
            <a:off x="600368" y="2027394"/>
            <a:ext cx="4625559" cy="125467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transaction_type,count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(*) </a:t>
            </a:r>
          </a:p>
          <a:p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as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total_transactions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   from transactions</a:t>
            </a:r>
          </a:p>
          <a:p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group by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transaction_type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</a:p>
          <a:p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order by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total_transactions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desc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;</a:t>
            </a:r>
            <a:endParaRPr lang="en-IN" sz="16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58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08128E4-5D72-10FF-E4AB-D616F6BD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292134B-E7A4-2315-AB83-61279050AC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5546" y="806190"/>
            <a:ext cx="11050586" cy="33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Analysis of Business Objectives: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776DC15-B454-E3D6-45E1-36312BB81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456F9-36C3-C48D-3B6C-C650C8D4B250}"/>
              </a:ext>
            </a:extLst>
          </p:cNvPr>
          <p:cNvSpPr txBox="1"/>
          <p:nvPr/>
        </p:nvSpPr>
        <p:spPr>
          <a:xfrm>
            <a:off x="5872898" y="2523415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OUTPUT:</a:t>
            </a:r>
            <a:endParaRPr lang="en-IN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A16FB-D26B-C7AC-C7FF-C4126BDA8E6F}"/>
              </a:ext>
            </a:extLst>
          </p:cNvPr>
          <p:cNvSpPr txBox="1"/>
          <p:nvPr/>
        </p:nvSpPr>
        <p:spPr>
          <a:xfrm>
            <a:off x="480768" y="1603272"/>
            <a:ext cx="8660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Bookman Old Style" panose="02050604050505020204" pitchFamily="18" charset="0"/>
              </a:rPr>
              <a:t>Card usage and customer product engagement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85EF4C-C390-4D34-55B8-274F26EAE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84376"/>
              </p:ext>
            </p:extLst>
          </p:nvPr>
        </p:nvGraphicFramePr>
        <p:xfrm>
          <a:off x="5872898" y="2873094"/>
          <a:ext cx="4287102" cy="2381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551">
                  <a:extLst>
                    <a:ext uri="{9D8B030D-6E8A-4147-A177-3AD203B41FA5}">
                      <a16:colId xmlns:a16="http://schemas.microsoft.com/office/drawing/2014/main" val="4266826940"/>
                    </a:ext>
                  </a:extLst>
                </a:gridCol>
                <a:gridCol w="2143551">
                  <a:extLst>
                    <a:ext uri="{9D8B030D-6E8A-4147-A177-3AD203B41FA5}">
                      <a16:colId xmlns:a16="http://schemas.microsoft.com/office/drawing/2014/main" val="1722808867"/>
                    </a:ext>
                  </a:extLst>
                </a:gridCol>
              </a:tblGrid>
              <a:tr h="793878">
                <a:tc>
                  <a:txBody>
                    <a:bodyPr/>
                    <a:lstStyle/>
                    <a:p>
                      <a:r>
                        <a:rPr lang="en-GB" dirty="0"/>
                        <a:t>Card_type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total_cards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1958"/>
                  </a:ext>
                </a:extLst>
              </a:tr>
              <a:tr h="793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860025"/>
                  </a:ext>
                </a:extLst>
              </a:tr>
              <a:tr h="793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6303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D8BC257-0004-9E31-2F41-1CBC6EA46D5F}"/>
              </a:ext>
            </a:extLst>
          </p:cNvPr>
          <p:cNvSpPr/>
          <p:nvPr/>
        </p:nvSpPr>
        <p:spPr>
          <a:xfrm>
            <a:off x="895545" y="2328421"/>
            <a:ext cx="4034673" cy="12914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card_type,count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(*) as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total_cards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  from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group by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card_type</a:t>
            </a:r>
            <a:endParaRPr lang="en-GB" sz="16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order by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total_cards</a:t>
            </a:r>
            <a:r>
              <a:rPr lang="en-GB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desc</a:t>
            </a:r>
            <a:r>
              <a:rPr lang="en-GB" sz="1600" dirty="0">
                <a:latin typeface="Bookman Old Style" panose="02050604050505020204" pitchFamily="18" charset="0"/>
              </a:rPr>
              <a:t>;</a:t>
            </a:r>
            <a:endParaRPr lang="en-IN" sz="16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941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E1F464E-6F23-5E78-A3EE-503EE3D6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C6A704C-74F1-B524-AEEA-335DD8252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3076" y="679729"/>
            <a:ext cx="11133056" cy="106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Overall Key Findings: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0EA6264-9411-79B7-BAF4-A2C8AAE22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22F82-E64C-4583-8715-E80CA066625B}"/>
              </a:ext>
            </a:extLst>
          </p:cNvPr>
          <p:cNvSpPr txBox="1"/>
          <p:nvPr/>
        </p:nvSpPr>
        <p:spPr>
          <a:xfrm>
            <a:off x="813076" y="1536174"/>
            <a:ext cx="112343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Identified different customer segments.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Found commonly used account and transaction types.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 Identified active customers and branches.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Studied loan repayment and late payments.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Understood card usage and customer product usage.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Found useful patterns from the banking data. 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30277-8D57-D2CE-CB58-1CB1A0252EDC}"/>
              </a:ext>
            </a:extLst>
          </p:cNvPr>
          <p:cNvSpPr txBox="1"/>
          <p:nvPr/>
        </p:nvSpPr>
        <p:spPr>
          <a:xfrm>
            <a:off x="3047215" y="2523415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164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4EB62C4-D02A-08E6-66B5-BD1AC052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B09855D-CCFE-7EAA-EE3E-3DD5CEBB3C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3076" y="679729"/>
            <a:ext cx="11133056" cy="106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Business Recommendations: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4D3E15C-142B-0F0D-133A-193A7DC2C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4EE2A-548F-3A8D-5F1F-E4597D686007}"/>
              </a:ext>
            </a:extLst>
          </p:cNvPr>
          <p:cNvSpPr txBox="1"/>
          <p:nvPr/>
        </p:nvSpPr>
        <p:spPr>
          <a:xfrm>
            <a:off x="813076" y="1536174"/>
            <a:ext cx="112343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Provide better services based on customer needs.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Give suitable offers to customers using multiple products.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Monitor customers with delayed loan payments.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Improve services in less active branches or channels.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Encourage customers to use suitable banking products.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9FF91-9F51-B4DB-1005-54D088C2342F}"/>
              </a:ext>
            </a:extLst>
          </p:cNvPr>
          <p:cNvSpPr txBox="1"/>
          <p:nvPr/>
        </p:nvSpPr>
        <p:spPr>
          <a:xfrm>
            <a:off x="3047215" y="2523415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603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FC2A7C9-3C08-F4A5-8AAC-6DEDA50B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DB4DBB8-3D02-54B5-EF0B-59B83D2C2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3076" y="679729"/>
            <a:ext cx="11133056" cy="106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Conclusion:</a:t>
            </a:r>
            <a:endParaRPr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C6F054E-BA1C-C277-B49A-F65C4B814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rot="10281787" flipV="1">
            <a:off x="7890235" y="2187019"/>
            <a:ext cx="3310245" cy="25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EE680-91A1-1D3F-2025-5A0A84DDCEC6}"/>
              </a:ext>
            </a:extLst>
          </p:cNvPr>
          <p:cNvSpPr txBox="1"/>
          <p:nvPr/>
        </p:nvSpPr>
        <p:spPr>
          <a:xfrm>
            <a:off x="813076" y="1536174"/>
            <a:ext cx="112343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Analysed banking data using MySQL and SQL.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Studied customers, accounts, transactions, loans, and cards.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Found useful patterns and customer behaviour.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Converted data into meaningful business insights.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The insights can help the bank make better decisions.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B5607-9164-9556-D536-9748C9710A04}"/>
              </a:ext>
            </a:extLst>
          </p:cNvPr>
          <p:cNvSpPr txBox="1"/>
          <p:nvPr/>
        </p:nvSpPr>
        <p:spPr>
          <a:xfrm>
            <a:off x="3047215" y="2523415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744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705</Words>
  <Application>Microsoft Office PowerPoint</Application>
  <PresentationFormat>Widescreen</PresentationFormat>
  <Paragraphs>199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Arial</vt:lpstr>
      <vt:lpstr>Wingdings</vt:lpstr>
      <vt:lpstr>Libre Baskerville</vt:lpstr>
      <vt:lpstr>Bookman Old Style</vt:lpstr>
      <vt:lpstr>Office Theme</vt:lpstr>
      <vt:lpstr>PowerPoint Presentation</vt:lpstr>
      <vt:lpstr>PowerPoint Presentation</vt:lpstr>
      <vt:lpstr>Agenda​</vt:lpstr>
      <vt:lpstr>Project overview:</vt:lpstr>
      <vt:lpstr>Business scenario:</vt:lpstr>
      <vt:lpstr>Business objectives:</vt:lpstr>
      <vt:lpstr>Data Set&amp; Database Overview:</vt:lpstr>
      <vt:lpstr>ER Diagram &amp; Database Structure:</vt:lpstr>
      <vt:lpstr>Analysis of Business Objectives:</vt:lpstr>
      <vt:lpstr>Analysis of Business Objectives:</vt:lpstr>
      <vt:lpstr>Analysis of Business Objectives:</vt:lpstr>
      <vt:lpstr>Overall Key Findings:</vt:lpstr>
      <vt:lpstr>Business Recommendations: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Pournami Saidula</cp:lastModifiedBy>
  <cp:revision>6</cp:revision>
  <dcterms:created xsi:type="dcterms:W3CDTF">2021-02-16T05:19:01Z</dcterms:created>
  <dcterms:modified xsi:type="dcterms:W3CDTF">2026-09-16T13:48:26Z</dcterms:modified>
</cp:coreProperties>
</file>